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9" r:id="rId5"/>
    <p:sldId id="258"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89" autoAdjust="0"/>
    <p:restoredTop sz="96236" autoAdjust="0"/>
  </p:normalViewPr>
  <p:slideViewPr>
    <p:cSldViewPr snapToGrid="0">
      <p:cViewPr varScale="1">
        <p:scale>
          <a:sx n="110" d="100"/>
          <a:sy n="110" d="100"/>
        </p:scale>
        <p:origin x="344"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C764DE79-268F-4C1A-8933-263129D2AF9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C764DE79-268F-4C1A-8933-263129D2AF9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Presentation</a:t>
            </a:r>
            <a:endParaRPr lang="nb-NO" dirty="0"/>
          </a:p>
        </p:txBody>
      </p:sp>
      <p:sp>
        <p:nvSpPr>
          <p:cNvPr id="3" name="Subtitle 2"/>
          <p:cNvSpPr>
            <a:spLocks noGrp="1"/>
          </p:cNvSpPr>
          <p:nvPr>
            <p:ph type="subTitle" idx="1"/>
          </p:nvPr>
        </p:nvSpPr>
        <p:spPr/>
        <p:txBody>
          <a:bodyPr/>
          <a:lstStyle/>
          <a:p>
            <a:r>
              <a:rPr lang="en-US" dirty="0"/>
              <a:t>Marketing Analytics </a:t>
            </a:r>
            <a:r>
              <a:rPr lang="en-US"/>
              <a:t>Portfolio Project</a:t>
            </a:r>
            <a:endParaRPr lang="nb-NO"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nb-NO" dirty="0" err="1"/>
              <a:t>Overview</a:t>
            </a:r>
            <a:endParaRPr lang="nb-NO" dirty="0"/>
          </a:p>
        </p:txBody>
      </p:sp>
      <p:sp>
        <p:nvSpPr>
          <p:cNvPr id="6" name="Content Placeholder 5"/>
          <p:cNvSpPr>
            <a:spLocks noGrp="1"/>
          </p:cNvSpPr>
          <p:nvPr>
            <p:ph sz="half" idx="1"/>
          </p:nvPr>
        </p:nvSpPr>
        <p:spPr>
          <a:xfrm>
            <a:off x="674370" y="1825625"/>
            <a:ext cx="3644423" cy="4351338"/>
          </a:xfrm>
        </p:spPr>
        <p:txBody>
          <a:bodyPr>
            <a:normAutofit fontScale="47500" lnSpcReduction="20000"/>
          </a:bodyPr>
          <a:lstStyle/>
          <a:p>
            <a:pPr>
              <a:lnSpc>
                <a:spcPct val="160000"/>
              </a:lnSpc>
            </a:pPr>
            <a:r>
              <a:rPr lang="en-US" sz="2000" b="1" dirty="0"/>
              <a:t>Decreased Conversion Rates: </a:t>
            </a:r>
            <a:r>
              <a:rPr lang="en-US" sz="2000" dirty="0"/>
              <a:t>The conversion rate demonstrated a strong rebound in December, reaching 10.2%, despite a notable dip to 5.0% in October.</a:t>
            </a:r>
            <a:endParaRPr lang="en-US" sz="2000" dirty="0"/>
          </a:p>
          <a:p>
            <a:pPr>
              <a:lnSpc>
                <a:spcPct val="160000"/>
              </a:lnSpc>
            </a:pPr>
            <a:r>
              <a:rPr lang="en-US" sz="2000" b="1" dirty="0"/>
              <a:t>Reduced Customer Engagement:</a:t>
            </a:r>
            <a:endParaRPr lang="en-US" sz="2000" b="1" dirty="0"/>
          </a:p>
          <a:p>
            <a:pPr lvl="1">
              <a:lnSpc>
                <a:spcPct val="160000"/>
              </a:lnSpc>
            </a:pPr>
            <a:r>
              <a:rPr lang="en-US" sz="2000" dirty="0"/>
              <a:t>There is a decline in overall social media engagement, with views dropping throughout the year.</a:t>
            </a:r>
            <a:endParaRPr lang="en-US" sz="2000" dirty="0"/>
          </a:p>
          <a:p>
            <a:pPr lvl="1">
              <a:lnSpc>
                <a:spcPct val="160000"/>
              </a:lnSpc>
            </a:pPr>
            <a:r>
              <a:rPr lang="en-US" sz="2000" dirty="0"/>
              <a:t>While clicks and likes are low compared to views, the click-through rate stands at 15.37%, meaning that engaged users are still interacting effectively.</a:t>
            </a:r>
            <a:endParaRPr lang="en-US" sz="2000" dirty="0"/>
          </a:p>
          <a:p>
            <a:pPr>
              <a:lnSpc>
                <a:spcPct val="160000"/>
              </a:lnSpc>
            </a:pPr>
            <a:r>
              <a:rPr lang="en-US" sz="2000" b="1" dirty="0"/>
              <a:t>Customer Feedback Analysis:</a:t>
            </a:r>
            <a:endParaRPr lang="en-US" sz="2000" b="1" dirty="0"/>
          </a:p>
          <a:p>
            <a:pPr lvl="1">
              <a:lnSpc>
                <a:spcPct val="160000"/>
              </a:lnSpc>
            </a:pPr>
            <a:r>
              <a:rPr lang="en-US" sz="2000" dirty="0"/>
              <a:t>Customer ratings have remained consistent, averaging around 3.7 throughout the year.</a:t>
            </a:r>
            <a:endParaRPr lang="en-US" sz="2000" dirty="0"/>
          </a:p>
          <a:p>
            <a:pPr lvl="1">
              <a:lnSpc>
                <a:spcPct val="160000"/>
              </a:lnSpc>
            </a:pPr>
            <a:r>
              <a:rPr lang="en-US" sz="2000" dirty="0"/>
              <a:t>Although stable, the average rating is below the target of 4.0, suggesting a need for focused improvements in customer satisfaction, for products below 3,5.</a:t>
            </a:r>
            <a:endParaRPr lang="nb-NO" sz="2000" dirty="0"/>
          </a:p>
        </p:txBody>
      </p:sp>
      <p:pic>
        <p:nvPicPr>
          <p:cNvPr id="9" name="Picture 8" descr="C:/Users/mayan/OneDrive/Pictures/Screenshots/Overview.pngOverview"/>
          <p:cNvPicPr>
            <a:picLocks noChangeAspect="1"/>
          </p:cNvPicPr>
          <p:nvPr/>
        </p:nvPicPr>
        <p:blipFill>
          <a:blip r:embed="rId1"/>
          <a:srcRect l="3444" r="3444"/>
          <a:stretch>
            <a:fillRect/>
          </a:stretch>
        </p:blipFill>
        <p:spPr>
          <a:xfrm>
            <a:off x="4482465" y="1425575"/>
            <a:ext cx="7629525" cy="4351020"/>
          </a:xfrm>
          <a:prstGeom prst="rect">
            <a:avLst/>
          </a:prstGeom>
        </p:spPr>
      </p:pic>
      <p:cxnSp>
        <p:nvCxnSpPr>
          <p:cNvPr id="11" name="Straight Arrow Connector 10"/>
          <p:cNvCxnSpPr/>
          <p:nvPr/>
        </p:nvCxnSpPr>
        <p:spPr>
          <a:xfrm>
            <a:off x="10607995" y="3324225"/>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Oval 12"/>
          <p:cNvSpPr/>
          <p:nvPr/>
        </p:nvSpPr>
        <p:spPr>
          <a:xfrm>
            <a:off x="8406560" y="2100680"/>
            <a:ext cx="1265034" cy="85939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4" name="Rectangle 13"/>
          <p:cNvSpPr/>
          <p:nvPr/>
        </p:nvSpPr>
        <p:spPr>
          <a:xfrm>
            <a:off x="8186711" y="4769261"/>
            <a:ext cx="1485041" cy="8593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b-NO" dirty="0" err="1"/>
              <a:t>Decreased</a:t>
            </a:r>
            <a:r>
              <a:rPr lang="nb-NO" dirty="0"/>
              <a:t> Conversion Rates</a:t>
            </a:r>
            <a:endParaRPr lang="nb-NO" dirty="0"/>
          </a:p>
        </p:txBody>
      </p:sp>
      <p:sp>
        <p:nvSpPr>
          <p:cNvPr id="3" name="Content Placeholder 2"/>
          <p:cNvSpPr>
            <a:spLocks noGrp="1"/>
          </p:cNvSpPr>
          <p:nvPr>
            <p:ph sz="half" idx="1"/>
          </p:nvPr>
        </p:nvSpPr>
        <p:spPr/>
        <p:txBody>
          <a:bodyPr>
            <a:normAutofit fontScale="40000" lnSpcReduction="20000"/>
          </a:bodyPr>
          <a:lstStyle/>
          <a:p>
            <a:pPr>
              <a:lnSpc>
                <a:spcPct val="170000"/>
              </a:lnSpc>
            </a:pPr>
            <a:r>
              <a:rPr lang="en-US" b="1" dirty="0"/>
              <a:t>General Conversion Trend:</a:t>
            </a:r>
            <a:endParaRPr lang="en-US" b="1" dirty="0"/>
          </a:p>
          <a:p>
            <a:pPr lvl="1">
              <a:lnSpc>
                <a:spcPct val="170000"/>
              </a:lnSpc>
            </a:pPr>
            <a:r>
              <a:rPr lang="en-US" dirty="0"/>
              <a:t>Throughout the year, conversion rates varied, with higher numbers of products converting successfully in months like December, January and Februrary. This suggests that while some products had strong seasonal peaks, there is potential to improve conversions in lower-performing months through targeted interventions.</a:t>
            </a:r>
            <a:endParaRPr lang="en-US" dirty="0"/>
          </a:p>
          <a:p>
            <a:pPr>
              <a:lnSpc>
                <a:spcPct val="170000"/>
              </a:lnSpc>
            </a:pPr>
            <a:r>
              <a:rPr lang="en-US" b="1" dirty="0"/>
              <a:t>Lowest Conversion Month:</a:t>
            </a:r>
            <a:endParaRPr lang="en-US" b="1" dirty="0"/>
          </a:p>
          <a:p>
            <a:pPr lvl="1">
              <a:lnSpc>
                <a:spcPct val="170000"/>
              </a:lnSpc>
            </a:pPr>
            <a:r>
              <a:rPr lang="en-US" dirty="0"/>
              <a:t>October experienced the lowest overall conversion rate at 6.1%, with no products standing out significantly in terms of conversion. This indicates a potential need to revisit marketing strategies or promotions during this period to boost performance.</a:t>
            </a:r>
            <a:endParaRPr lang="en-US" dirty="0"/>
          </a:p>
          <a:p>
            <a:pPr>
              <a:lnSpc>
                <a:spcPct val="170000"/>
              </a:lnSpc>
            </a:pPr>
            <a:r>
              <a:rPr lang="en-US" b="1" dirty="0"/>
              <a:t>Highest Conversion Rates:</a:t>
            </a:r>
            <a:endParaRPr lang="en-US" b="1" dirty="0"/>
          </a:p>
          <a:p>
            <a:pPr lvl="1">
              <a:lnSpc>
                <a:spcPct val="170000"/>
              </a:lnSpc>
            </a:pPr>
            <a:r>
              <a:rPr lang="en-US" dirty="0"/>
              <a:t>January recorded the highest overall conversion rate at 17.33%, driven significantly by the Ski Boots with a remarkable 100% conversion. This indicates a strong start to the year, likely fueled by seasonal demand and effective marketing strategies.</a:t>
            </a:r>
            <a:endParaRPr lang="en-US" dirty="0"/>
          </a:p>
        </p:txBody>
      </p:sp>
      <p:pic>
        <p:nvPicPr>
          <p:cNvPr id="6" name="Picture 5" descr="C:/Users/mayan/OneDrive/Pictures/Screenshots/Screenshot 2025-11-05 172110.pngScreenshot 2025-11-05 172110"/>
          <p:cNvPicPr>
            <a:picLocks noChangeAspect="1"/>
          </p:cNvPicPr>
          <p:nvPr/>
        </p:nvPicPr>
        <p:blipFill rotWithShape="1">
          <a:blip r:embed="rId1"/>
          <a:srcRect l="-233" t="2591" r="2892" b="2591"/>
          <a:stretch>
            <a:fillRect/>
          </a:stretch>
        </p:blipFill>
        <p:spPr>
          <a:xfrm>
            <a:off x="6172200" y="2223135"/>
            <a:ext cx="5696585" cy="3381375"/>
          </a:xfrm>
          <a:prstGeom prst="rect">
            <a:avLst/>
          </a:prstGeom>
        </p:spPr>
      </p:pic>
      <p:sp>
        <p:nvSpPr>
          <p:cNvPr id="7" name="Rectangle 6"/>
          <p:cNvSpPr/>
          <p:nvPr/>
        </p:nvSpPr>
        <p:spPr>
          <a:xfrm>
            <a:off x="10396220" y="2117725"/>
            <a:ext cx="398780" cy="348742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Rectangle 7"/>
          <p:cNvSpPr/>
          <p:nvPr/>
        </p:nvSpPr>
        <p:spPr>
          <a:xfrm>
            <a:off x="7044055" y="2118360"/>
            <a:ext cx="422275" cy="3486785"/>
          </a:xfrm>
          <a:prstGeom prst="rect">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Reduced Customer Engagement</a:t>
            </a:r>
            <a:endParaRPr lang="nb-NO" dirty="0"/>
          </a:p>
        </p:txBody>
      </p:sp>
      <p:sp>
        <p:nvSpPr>
          <p:cNvPr id="3" name="Content Placeholder 2"/>
          <p:cNvSpPr>
            <a:spLocks noGrp="1"/>
          </p:cNvSpPr>
          <p:nvPr>
            <p:ph sz="half" idx="1"/>
          </p:nvPr>
        </p:nvSpPr>
        <p:spPr>
          <a:xfrm>
            <a:off x="838200" y="1825625"/>
            <a:ext cx="5181600" cy="4351338"/>
          </a:xfrm>
        </p:spPr>
        <p:txBody>
          <a:bodyPr>
            <a:normAutofit fontScale="55000" lnSpcReduction="20000"/>
          </a:bodyPr>
          <a:lstStyle/>
          <a:p>
            <a:pPr>
              <a:lnSpc>
                <a:spcPct val="170000"/>
              </a:lnSpc>
            </a:pPr>
            <a:r>
              <a:rPr lang="en-US" b="1" dirty="0"/>
              <a:t>Declining Views:</a:t>
            </a:r>
            <a:endParaRPr lang="en-US" b="1" dirty="0"/>
          </a:p>
          <a:p>
            <a:pPr lvl="1">
              <a:lnSpc>
                <a:spcPct val="170000"/>
              </a:lnSpc>
            </a:pPr>
            <a:r>
              <a:rPr lang="en-US" dirty="0"/>
              <a:t>Views peaked in January and February but declined from August and on, indicating reduced audience engagement in the later half of the year.</a:t>
            </a:r>
            <a:endParaRPr lang="en-US" dirty="0"/>
          </a:p>
          <a:p>
            <a:pPr>
              <a:lnSpc>
                <a:spcPct val="170000"/>
              </a:lnSpc>
            </a:pPr>
            <a:r>
              <a:rPr lang="en-US" b="1" dirty="0"/>
              <a:t>Low Interaction Rates:</a:t>
            </a:r>
            <a:endParaRPr lang="en-US" b="1" dirty="0"/>
          </a:p>
          <a:p>
            <a:pPr lvl="1">
              <a:lnSpc>
                <a:spcPct val="170000"/>
              </a:lnSpc>
            </a:pPr>
            <a:r>
              <a:rPr lang="en-US" dirty="0"/>
              <a:t>Clicks and likes remained consistently low compared to views, suggesting the need for more engaging content or stronger calls to action.</a:t>
            </a:r>
            <a:endParaRPr lang="en-US" dirty="0"/>
          </a:p>
          <a:p>
            <a:pPr>
              <a:lnSpc>
                <a:spcPct val="170000"/>
              </a:lnSpc>
            </a:pPr>
            <a:r>
              <a:rPr lang="en-US" b="1" dirty="0"/>
              <a:t>Content Type Performance:</a:t>
            </a:r>
            <a:endParaRPr lang="en-US" b="1" dirty="0"/>
          </a:p>
          <a:p>
            <a:pPr lvl="1">
              <a:lnSpc>
                <a:spcPct val="170000"/>
              </a:lnSpc>
            </a:pPr>
            <a:r>
              <a:rPr lang="en-US" dirty="0"/>
              <a:t>Blog content drove the most views, especially in January and April, while social media and video content maintained steady but slightly lower engagement.</a:t>
            </a:r>
            <a:endParaRPr lang="nb-NO" dirty="0"/>
          </a:p>
        </p:txBody>
      </p:sp>
      <p:pic>
        <p:nvPicPr>
          <p:cNvPr id="6" name="Picture 5" descr="C:/Users/mayan/OneDrive/Pictures/Screenshots/VCL.pngVCL"/>
          <p:cNvPicPr>
            <a:picLocks noChangeAspect="1"/>
          </p:cNvPicPr>
          <p:nvPr/>
        </p:nvPicPr>
        <p:blipFill>
          <a:blip r:embed="rId1"/>
          <a:srcRect l="-97" t="96" r="-97" b="96"/>
          <a:stretch>
            <a:fillRect/>
          </a:stretch>
        </p:blipFill>
        <p:spPr>
          <a:xfrm>
            <a:off x="6560185" y="1353185"/>
            <a:ext cx="5222240" cy="2646680"/>
          </a:xfrm>
          <a:prstGeom prst="rect">
            <a:avLst/>
          </a:prstGeom>
        </p:spPr>
      </p:pic>
      <p:pic>
        <p:nvPicPr>
          <p:cNvPr id="8" name="Picture 7" descr="C:/Users/mayan/OneDrive/Pictures/Screenshots/Total Views by month.pngTotal Views by month"/>
          <p:cNvPicPr>
            <a:picLocks noChangeAspect="1"/>
          </p:cNvPicPr>
          <p:nvPr/>
        </p:nvPicPr>
        <p:blipFill>
          <a:blip r:embed="rId2"/>
          <a:srcRect l="19" r="19"/>
          <a:stretch>
            <a:fillRect/>
          </a:stretch>
        </p:blipFill>
        <p:spPr>
          <a:xfrm>
            <a:off x="6740525" y="4169410"/>
            <a:ext cx="4935855" cy="2524760"/>
          </a:xfrm>
          <a:prstGeom prst="rect">
            <a:avLst/>
          </a:prstGeom>
        </p:spPr>
      </p:pic>
      <p:cxnSp>
        <p:nvCxnSpPr>
          <p:cNvPr id="9" name="Straight Arrow Connector 8"/>
          <p:cNvCxnSpPr/>
          <p:nvPr/>
        </p:nvCxnSpPr>
        <p:spPr>
          <a:xfrm>
            <a:off x="8614637" y="2363887"/>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b-NO" dirty="0" err="1"/>
              <a:t>Customer</a:t>
            </a:r>
            <a:r>
              <a:rPr lang="nb-NO" dirty="0"/>
              <a:t> Feedback Analysis</a:t>
            </a:r>
            <a:endParaRPr lang="nb-NO" dirty="0"/>
          </a:p>
        </p:txBody>
      </p:sp>
      <p:sp>
        <p:nvSpPr>
          <p:cNvPr id="3" name="Content Placeholder 2"/>
          <p:cNvSpPr>
            <a:spLocks noGrp="1"/>
          </p:cNvSpPr>
          <p:nvPr>
            <p:ph sz="half" idx="1"/>
          </p:nvPr>
        </p:nvSpPr>
        <p:spPr/>
        <p:txBody>
          <a:bodyPr>
            <a:normAutofit fontScale="40000" lnSpcReduction="20000"/>
          </a:bodyPr>
          <a:lstStyle/>
          <a:p>
            <a:pPr>
              <a:lnSpc>
                <a:spcPct val="170000"/>
              </a:lnSpc>
            </a:pPr>
            <a:r>
              <a:rPr lang="en-US" b="1" dirty="0"/>
              <a:t>Customer Ratings Distribution:</a:t>
            </a:r>
            <a:endParaRPr lang="en-US" b="1" dirty="0"/>
          </a:p>
          <a:p>
            <a:pPr lvl="1">
              <a:lnSpc>
                <a:spcPct val="170000"/>
              </a:lnSpc>
            </a:pPr>
            <a:r>
              <a:rPr lang="en-US" dirty="0"/>
              <a:t>The majority of customer reviews are in the higher ratings, with 431 reviews at 4 stars and 409 reviews at 5 stars, indicating overall positive feedback. Lower ratings (1-2 stars) account for a smaller proportion, with 80 reviews at 1 star and 153 reviews at 2 stars.</a:t>
            </a:r>
            <a:endParaRPr lang="en-US" dirty="0"/>
          </a:p>
          <a:p>
            <a:pPr>
              <a:lnSpc>
                <a:spcPct val="170000"/>
              </a:lnSpc>
            </a:pPr>
            <a:r>
              <a:rPr lang="en-US" b="1" dirty="0"/>
              <a:t>Sentiment Analysis:</a:t>
            </a:r>
            <a:endParaRPr lang="en-US" b="1" dirty="0"/>
          </a:p>
          <a:p>
            <a:pPr lvl="1">
              <a:lnSpc>
                <a:spcPct val="170000"/>
              </a:lnSpc>
            </a:pPr>
            <a:r>
              <a:rPr lang="en-US" dirty="0"/>
              <a:t>Positive sentiment dominates with 840 reviews, reflecting a generally satisfied customer base. Negative sentiment is present in 226 reviews, with a smaller number of mixed and neutral sentiments, suggesting some areas for improvement but overall strong customer approval.</a:t>
            </a:r>
            <a:endParaRPr lang="en-US" dirty="0"/>
          </a:p>
          <a:p>
            <a:pPr>
              <a:lnSpc>
                <a:spcPct val="170000"/>
              </a:lnSpc>
            </a:pPr>
            <a:r>
              <a:rPr lang="en-US" b="1" dirty="0"/>
              <a:t>Opportunity for Improvement:</a:t>
            </a:r>
            <a:endParaRPr lang="en-US" b="1" dirty="0"/>
          </a:p>
          <a:p>
            <a:pPr lvl="1">
              <a:lnSpc>
                <a:spcPct val="170000"/>
              </a:lnSpc>
            </a:pPr>
            <a:r>
              <a:rPr lang="en-US"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dirty="0"/>
          </a:p>
        </p:txBody>
      </p:sp>
      <p:pic>
        <p:nvPicPr>
          <p:cNvPr id="6" name="Picture 5" descr="C:/Users/mayan/OneDrive/Pictures/Screenshots/Num of customer Ratings.pngNum of customer Ratings"/>
          <p:cNvPicPr>
            <a:picLocks noChangeAspect="1"/>
          </p:cNvPicPr>
          <p:nvPr/>
        </p:nvPicPr>
        <p:blipFill>
          <a:blip r:embed="rId1"/>
          <a:srcRect l="521" t="1337" r="521" b="1337"/>
          <a:stretch>
            <a:fillRect/>
          </a:stretch>
        </p:blipFill>
        <p:spPr>
          <a:xfrm>
            <a:off x="7298690" y="1510665"/>
            <a:ext cx="3438525" cy="2402840"/>
          </a:xfrm>
          <a:prstGeom prst="rect">
            <a:avLst/>
          </a:prstGeom>
        </p:spPr>
      </p:pic>
      <p:pic>
        <p:nvPicPr>
          <p:cNvPr id="8" name="Picture 7" descr="C:/Users/mayan/OneDrive/Pictures/Screenshots/Sentiment Category.pngSentiment Category"/>
          <p:cNvPicPr>
            <a:picLocks noChangeAspect="1"/>
          </p:cNvPicPr>
          <p:nvPr/>
        </p:nvPicPr>
        <p:blipFill>
          <a:blip r:embed="rId2"/>
          <a:srcRect l="504" t="-4948" r="504" b="2195"/>
          <a:stretch>
            <a:fillRect/>
          </a:stretch>
        </p:blipFill>
        <p:spPr>
          <a:xfrm>
            <a:off x="6990080" y="4051300"/>
            <a:ext cx="4055745" cy="28067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b-NO" dirty="0"/>
              <a:t>Goals &amp; </a:t>
            </a:r>
            <a:r>
              <a:rPr lang="nb-NO" dirty="0" err="1"/>
              <a:t>Actions</a:t>
            </a:r>
            <a:endParaRPr lang="nb-NO" dirty="0"/>
          </a:p>
        </p:txBody>
      </p:sp>
      <p:sp>
        <p:nvSpPr>
          <p:cNvPr id="7" name="Text Placeholder 6"/>
          <p:cNvSpPr>
            <a:spLocks noGrp="1"/>
          </p:cNvSpPr>
          <p:nvPr>
            <p:ph type="body" idx="1"/>
          </p:nvPr>
        </p:nvSpPr>
        <p:spPr/>
        <p:txBody>
          <a:bodyPr/>
          <a:lstStyle/>
          <a:p>
            <a:r>
              <a:rPr lang="en-US" dirty="0"/>
              <a:t>Goals</a:t>
            </a:r>
            <a:endParaRPr lang="nb-NO" dirty="0"/>
          </a:p>
        </p:txBody>
      </p:sp>
      <p:sp>
        <p:nvSpPr>
          <p:cNvPr id="5" name="Content Placeholder 4"/>
          <p:cNvSpPr>
            <a:spLocks noGrp="1"/>
          </p:cNvSpPr>
          <p:nvPr>
            <p:ph sz="half" idx="2"/>
          </p:nvPr>
        </p:nvSpPr>
        <p:spPr>
          <a:xfrm>
            <a:off x="839788" y="2505075"/>
            <a:ext cx="5157787" cy="3987800"/>
          </a:xfrm>
        </p:spPr>
        <p:txBody>
          <a:bodyPr>
            <a:normAutofit fontScale="40000" lnSpcReduction="20000"/>
          </a:bodyPr>
          <a:lstStyle/>
          <a:p>
            <a:pPr>
              <a:lnSpc>
                <a:spcPct val="170000"/>
              </a:lnSpc>
            </a:pPr>
            <a:r>
              <a:rPr lang="en-US" b="1" dirty="0"/>
              <a:t>Increase Conversion Rates:</a:t>
            </a:r>
            <a:endParaRPr lang="en-US" b="1" dirty="0"/>
          </a:p>
          <a:p>
            <a:pPr lvl="1">
              <a:lnSpc>
                <a:spcPct val="170000"/>
              </a:lnSpc>
            </a:pPr>
            <a:r>
              <a:rPr lang="en-US" b="1" dirty="0"/>
              <a:t>Goal: </a:t>
            </a:r>
            <a:r>
              <a:rPr lang="en-US" dirty="0"/>
              <a:t>Identify factors impacting the conversion rate and provide recommendations to improve it.</a:t>
            </a:r>
            <a:endParaRPr lang="en-US" dirty="0"/>
          </a:p>
          <a:p>
            <a:pPr lvl="1">
              <a:lnSpc>
                <a:spcPct val="170000"/>
              </a:lnSpc>
            </a:pPr>
            <a:r>
              <a:rPr lang="en-US" b="1" dirty="0"/>
              <a:t>Insight: </a:t>
            </a:r>
            <a:r>
              <a:rPr lang="en-US" dirty="0"/>
              <a:t>Highlight key stages where visitors drop off and suggest improvements to optimize the conversion funnel.</a:t>
            </a:r>
            <a:endParaRPr lang="en-US" dirty="0"/>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endParaRPr lang="en-US" dirty="0"/>
          </a:p>
          <a:p>
            <a:pPr lvl="1">
              <a:lnSpc>
                <a:spcPct val="170000"/>
              </a:lnSpc>
            </a:pPr>
            <a:r>
              <a:rPr lang="en-US" b="1" dirty="0"/>
              <a:t>Insight:</a:t>
            </a:r>
            <a:r>
              <a:rPr lang="en-US" dirty="0"/>
              <a:t> Analyze interaction levels with different types of marketing content to inform better content strategies.</a:t>
            </a:r>
            <a:endParaRPr lang="en-US" dirty="0"/>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endParaRPr lang="en-US" dirty="0"/>
          </a:p>
          <a:p>
            <a:pPr lvl="1">
              <a:lnSpc>
                <a:spcPct val="170000"/>
              </a:lnSpc>
            </a:pPr>
            <a:r>
              <a:rPr lang="en-US" b="1" dirty="0"/>
              <a:t>Insight:</a:t>
            </a:r>
            <a:r>
              <a:rPr lang="en-US" dirty="0"/>
              <a:t> Identify recurring positive and negative feedback to guide product and service improvements.</a:t>
            </a:r>
            <a:endParaRPr lang="en-US" dirty="0"/>
          </a:p>
        </p:txBody>
      </p:sp>
      <p:sp>
        <p:nvSpPr>
          <p:cNvPr id="8" name="Text Placeholder 7"/>
          <p:cNvSpPr>
            <a:spLocks noGrp="1"/>
          </p:cNvSpPr>
          <p:nvPr>
            <p:ph type="body" sz="quarter" idx="3"/>
          </p:nvPr>
        </p:nvSpPr>
        <p:spPr/>
        <p:txBody>
          <a:bodyPr/>
          <a:lstStyle/>
          <a:p>
            <a:r>
              <a:rPr lang="en-US" dirty="0"/>
              <a:t>Actions</a:t>
            </a:r>
            <a:endParaRPr lang="nb-NO" dirty="0"/>
          </a:p>
        </p:txBody>
      </p:sp>
      <p:sp>
        <p:nvSpPr>
          <p:cNvPr id="9" name="Content Placeholder 8"/>
          <p:cNvSpPr>
            <a:spLocks noGrp="1"/>
          </p:cNvSpPr>
          <p:nvPr>
            <p:ph sz="quarter" idx="4"/>
          </p:nvPr>
        </p:nvSpPr>
        <p:spPr>
          <a:xfrm>
            <a:off x="6172200" y="2505075"/>
            <a:ext cx="5183188" cy="4211984"/>
          </a:xfrm>
        </p:spPr>
        <p:txBody>
          <a:bodyPr>
            <a:noAutofit/>
          </a:bodyPr>
          <a:lstStyle/>
          <a:p>
            <a:pPr>
              <a:lnSpc>
                <a:spcPct val="120000"/>
              </a:lnSpc>
            </a:pPr>
            <a:r>
              <a:rPr lang="nb-NO" sz="900" b="1" dirty="0" err="1"/>
              <a:t>Increase</a:t>
            </a:r>
            <a:r>
              <a:rPr lang="nb-NO" sz="900" b="1" dirty="0"/>
              <a:t> Conversion Rates:</a:t>
            </a:r>
            <a:endParaRPr lang="nb-NO" sz="900" b="1" dirty="0"/>
          </a:p>
          <a:p>
            <a:pPr lvl="1">
              <a:lnSpc>
                <a:spcPct val="120000"/>
              </a:lnSpc>
            </a:pPr>
            <a:r>
              <a:rPr lang="en-US" sz="900" u="sng" dirty="0"/>
              <a:t>Target High-Performing Product Categories</a:t>
            </a:r>
            <a:r>
              <a:rPr lang="en-US" sz="900" dirty="0"/>
              <a:t>: Focus marketing efforts on products with demonstrated high conversion rates, such as Kayaks, Ski Boots, and Baseball Gloves. Implement seasonal promotions or personalized campaigns during peak months (e.g., December-January) to capitalize on these trends.</a:t>
            </a:r>
            <a:endParaRPr lang="en-US" sz="900" dirty="0"/>
          </a:p>
          <a:p>
            <a:pPr lvl="1">
              <a:lnSpc>
                <a:spcPct val="120000"/>
              </a:lnSpc>
            </a:pPr>
            <a:endParaRPr lang="nb-NO" sz="900" dirty="0"/>
          </a:p>
          <a:p>
            <a:pPr>
              <a:lnSpc>
                <a:spcPct val="120000"/>
              </a:lnSpc>
            </a:pPr>
            <a:r>
              <a:rPr lang="nb-NO" sz="900" b="1" dirty="0" err="1"/>
              <a:t>Enhance</a:t>
            </a:r>
            <a:r>
              <a:rPr lang="nb-NO" sz="900" b="1" dirty="0"/>
              <a:t> </a:t>
            </a:r>
            <a:r>
              <a:rPr lang="nb-NO" sz="900" b="1" dirty="0" err="1"/>
              <a:t>Customer</a:t>
            </a:r>
            <a:r>
              <a:rPr lang="nb-NO" sz="900" b="1" dirty="0"/>
              <a:t> </a:t>
            </a:r>
            <a:r>
              <a:rPr lang="nb-NO" sz="900" b="1" dirty="0" err="1"/>
              <a:t>Engagement</a:t>
            </a:r>
            <a:r>
              <a:rPr lang="nb-NO" sz="900" b="1" dirty="0"/>
              <a:t>:</a:t>
            </a:r>
            <a:endParaRPr lang="nb-NO" sz="900" b="1" dirty="0"/>
          </a:p>
          <a:p>
            <a:pPr lvl="1">
              <a:lnSpc>
                <a:spcPct val="120000"/>
              </a:lnSpc>
            </a:pPr>
            <a:r>
              <a:rPr lang="en-US" sz="900" u="sng" dirty="0"/>
              <a:t>Revitalize Content Strategy</a:t>
            </a:r>
            <a:r>
              <a:rPr lang="en-US" sz="900" dirty="0"/>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endParaRPr lang="en-US" sz="900" dirty="0"/>
          </a:p>
          <a:p>
            <a:pPr lvl="1">
              <a:lnSpc>
                <a:spcPct val="120000"/>
              </a:lnSpc>
            </a:pPr>
            <a:endParaRPr lang="nb-NO" sz="900" dirty="0"/>
          </a:p>
          <a:p>
            <a:pPr>
              <a:lnSpc>
                <a:spcPct val="120000"/>
              </a:lnSpc>
            </a:pPr>
            <a:r>
              <a:rPr lang="nb-NO" sz="900" b="1" dirty="0" err="1"/>
              <a:t>Improve</a:t>
            </a:r>
            <a:r>
              <a:rPr lang="nb-NO" sz="900" b="1" dirty="0"/>
              <a:t> </a:t>
            </a:r>
            <a:r>
              <a:rPr lang="nb-NO" sz="900" b="1" dirty="0" err="1"/>
              <a:t>Customer</a:t>
            </a:r>
            <a:r>
              <a:rPr lang="nb-NO" sz="900" b="1" dirty="0"/>
              <a:t> Feedback Scores:</a:t>
            </a:r>
            <a:endParaRPr lang="nb-NO" sz="900" b="1" dirty="0"/>
          </a:p>
          <a:p>
            <a:pPr lvl="1">
              <a:lnSpc>
                <a:spcPct val="120000"/>
              </a:lnSpc>
            </a:pPr>
            <a:r>
              <a:rPr lang="en-US" sz="900" u="sng" dirty="0"/>
              <a:t>Address Mixed and Negative Feedback: </a:t>
            </a:r>
            <a:r>
              <a:rPr lang="en-US" sz="900" dirty="0"/>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900" dirty="0"/>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4898</Words>
  <Application>WPS Presentation</Application>
  <PresentationFormat>Widescreen</PresentationFormat>
  <Paragraphs>66</Paragraphs>
  <Slides>6</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6</vt:i4>
      </vt:variant>
    </vt:vector>
  </HeadingPairs>
  <TitlesOfParts>
    <vt:vector size="17" baseType="lpstr">
      <vt:lpstr>Arial</vt:lpstr>
      <vt:lpstr>SimSun</vt:lpstr>
      <vt:lpstr>Wingdings</vt:lpstr>
      <vt:lpstr>Aptos Display</vt:lpstr>
      <vt:lpstr>Segoe UI Variable Display</vt:lpstr>
      <vt:lpstr>Aptos</vt:lpstr>
      <vt:lpstr>Segoe UI</vt:lpstr>
      <vt:lpstr>Microsoft YaHei</vt:lpstr>
      <vt:lpstr>Arial Unicode MS</vt:lpstr>
      <vt:lpstr>Calibri</vt:lpstr>
      <vt:lpstr>Office Theme</vt:lpstr>
      <vt:lpstr>Data Presentation</vt:lpstr>
      <vt:lpstr>Overview</vt:lpstr>
      <vt:lpstr>Decreased Conversion Rates</vt:lpstr>
      <vt:lpstr>Reduced Customer Engagement</vt:lpstr>
      <vt:lpstr>Customer Feedback Analysis</vt:lpstr>
      <vt:lpstr>Goals &amp; Actions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mayan</cp:lastModifiedBy>
  <cp:revision>2</cp:revision>
  <dcterms:created xsi:type="dcterms:W3CDTF">2024-09-03T15:16:00Z</dcterms:created>
  <dcterms:modified xsi:type="dcterms:W3CDTF">2025-11-05T13:15:30Z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586EF0C5EA4D4DEE801F9071D7AA4A09_13</vt:lpwstr>
  </property>
  <property fmtid="{D5CDD505-2E9C-101B-9397-08002B2CF9AE}" pid="3" name="KSOProductBuildVer">
    <vt:lpwstr>1033-12.2.0.23155</vt:lpwstr>
  </property>
</Properties>
</file>