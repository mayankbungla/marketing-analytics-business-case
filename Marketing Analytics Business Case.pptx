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2" r:id="rId5"/>
    <p:sldId id="266" r:id="rId6"/>
    <p:sldId id="258" r:id="rId7"/>
    <p:sldId id="260" r:id="rId8"/>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119" d="100"/>
          <a:sy n="119" d="100"/>
        </p:scale>
        <p:origin x="12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5" name="Date Placeholder 4"/>
          <p:cNvSpPr>
            <a:spLocks noGrp="1"/>
          </p:cNvSpPr>
          <p:nvPr>
            <p:ph type="dt" sz="half" idx="10"/>
          </p:nvPr>
        </p:nvSpPr>
        <p:spPr/>
        <p:txBody>
          <a:bodyPr/>
          <a:lstStyle/>
          <a:p>
            <a:fld id="{1E4130FF-60BC-4C0C-AEE3-7285F2A694C4}" type="datetimeFigureOut">
              <a:rPr lang="nb-NO" smtClean="0"/>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7" name="Date Placeholder 6"/>
          <p:cNvSpPr>
            <a:spLocks noGrp="1"/>
          </p:cNvSpPr>
          <p:nvPr>
            <p:ph type="dt" sz="half" idx="10"/>
          </p:nvPr>
        </p:nvSpPr>
        <p:spPr/>
        <p:txBody>
          <a:bodyPr/>
          <a:lstStyle/>
          <a:p>
            <a:fld id="{1E4130FF-60BC-4C0C-AEE3-7285F2A694C4}" type="datetimeFigureOut">
              <a:rPr lang="nb-NO" smtClean="0"/>
            </a:fld>
            <a:endParaRPr lang="nb-NO"/>
          </a:p>
        </p:txBody>
      </p:sp>
      <p:sp>
        <p:nvSpPr>
          <p:cNvPr id="8" name="Footer Placeholder 7"/>
          <p:cNvSpPr>
            <a:spLocks noGrp="1"/>
          </p:cNvSpPr>
          <p:nvPr>
            <p:ph type="ftr" sz="quarter" idx="11"/>
          </p:nvPr>
        </p:nvSpPr>
        <p:spPr/>
        <p:txBody>
          <a:bodyPr/>
          <a:lstStyle/>
          <a:p>
            <a:endParaRPr lang="nb-NO"/>
          </a:p>
        </p:txBody>
      </p:sp>
      <p:sp>
        <p:nvSpPr>
          <p:cNvPr id="9" name="Slide Number Placeholder 8"/>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Date Placeholder 2"/>
          <p:cNvSpPr>
            <a:spLocks noGrp="1"/>
          </p:cNvSpPr>
          <p:nvPr>
            <p:ph type="dt" sz="half" idx="10"/>
          </p:nvPr>
        </p:nvSpPr>
        <p:spPr/>
        <p:txBody>
          <a:bodyPr/>
          <a:lstStyle/>
          <a:p>
            <a:fld id="{1E4130FF-60BC-4C0C-AEE3-7285F2A694C4}" type="datetimeFigureOut">
              <a:rPr lang="nb-NO" smtClean="0"/>
            </a:fld>
            <a:endParaRPr lang="nb-NO"/>
          </a:p>
        </p:txBody>
      </p:sp>
      <p:sp>
        <p:nvSpPr>
          <p:cNvPr id="4" name="Footer Placeholder 3"/>
          <p:cNvSpPr>
            <a:spLocks noGrp="1"/>
          </p:cNvSpPr>
          <p:nvPr>
            <p:ph type="ftr" sz="quarter" idx="11"/>
          </p:nvPr>
        </p:nvSpPr>
        <p:spPr/>
        <p:txBody>
          <a:bodyPr/>
          <a:lstStyle/>
          <a:p>
            <a:endParaRPr lang="nb-NO"/>
          </a:p>
        </p:txBody>
      </p:sp>
      <p:sp>
        <p:nvSpPr>
          <p:cNvPr id="5" name="Slide Number Placeholder 4"/>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130FF-60BC-4C0C-AEE3-7285F2A694C4}" type="datetimeFigureOut">
              <a:rPr lang="nb-NO" smtClean="0"/>
            </a:fld>
            <a:endParaRPr lang="nb-NO"/>
          </a:p>
        </p:txBody>
      </p:sp>
      <p:sp>
        <p:nvSpPr>
          <p:cNvPr id="3" name="Footer Placeholder 2"/>
          <p:cNvSpPr>
            <a:spLocks noGrp="1"/>
          </p:cNvSpPr>
          <p:nvPr>
            <p:ph type="ftr" sz="quarter" idx="11"/>
          </p:nvPr>
        </p:nvSpPr>
        <p:spPr/>
        <p:txBody>
          <a:bodyPr/>
          <a:lstStyle/>
          <a:p>
            <a:endParaRPr lang="nb-NO"/>
          </a:p>
        </p:txBody>
      </p:sp>
      <p:sp>
        <p:nvSpPr>
          <p:cNvPr id="4" name="Slide Number Placeholder 3"/>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4130FF-60BC-4C0C-AEE3-7285F2A694C4}" type="datetimeFigureOut">
              <a:rPr lang="nb-NO" smtClean="0"/>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4130FF-60BC-4C0C-AEE3-7285F2A694C4}" type="datetimeFigureOut">
              <a:rPr lang="nb-NO" smtClean="0"/>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fld>
            <a:endParaRPr lang="nb-N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fld>
            <a:endParaRPr lang="nb-N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Marketing Analytics Business Case</a:t>
            </a:r>
            <a:endParaRPr lang="nb-NO" b="1" dirty="0"/>
          </a:p>
        </p:txBody>
      </p:sp>
      <p:sp>
        <p:nvSpPr>
          <p:cNvPr id="3" name="Subtitle 2"/>
          <p:cNvSpPr>
            <a:spLocks noGrp="1"/>
          </p:cNvSpPr>
          <p:nvPr>
            <p:ph type="subTitle" idx="1"/>
          </p:nvPr>
        </p:nvSpPr>
        <p:spPr>
          <a:xfrm>
            <a:off x="1524000" y="4338320"/>
            <a:ext cx="9144000" cy="919480"/>
          </a:xfrm>
        </p:spPr>
        <p:txBody>
          <a:bodyPr/>
          <a:lstStyle/>
          <a:p>
            <a:endParaRPr lang="nb-NO"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Introduction to Business Problem</a:t>
            </a:r>
            <a:endParaRPr lang="nb-NO" b="1" dirty="0"/>
          </a:p>
        </p:txBody>
      </p:sp>
      <p:sp>
        <p:nvSpPr>
          <p:cNvPr id="5" name="Content Placeholder 4"/>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endParaRPr lang="en-US" dirty="0"/>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endParaRPr lang="en-US" dirty="0"/>
          </a:p>
          <a:p>
            <a:pPr lvl="1">
              <a:lnSpc>
                <a:spcPct val="170000"/>
              </a:lnSpc>
            </a:pPr>
            <a:r>
              <a:rPr lang="en-US" b="1" dirty="0"/>
              <a:t>Decreased Conversion Rates:</a:t>
            </a:r>
            <a:r>
              <a:rPr lang="en-US" dirty="0"/>
              <a:t> Fewer site visitors are converting into paying customers.</a:t>
            </a:r>
            <a:endParaRPr lang="en-US" dirty="0"/>
          </a:p>
          <a:p>
            <a:pPr lvl="1">
              <a:lnSpc>
                <a:spcPct val="170000"/>
              </a:lnSpc>
            </a:pPr>
            <a:r>
              <a:rPr lang="en-US" b="1" dirty="0"/>
              <a:t>High Marketing Expenses:</a:t>
            </a:r>
            <a:r>
              <a:rPr lang="en-US" dirty="0"/>
              <a:t> Significant investments in marketing campaigns are not yielding expected returns.</a:t>
            </a:r>
            <a:endParaRPr lang="en-US" dirty="0"/>
          </a:p>
          <a:p>
            <a:pPr lvl="1">
              <a:lnSpc>
                <a:spcPct val="170000"/>
              </a:lnSpc>
            </a:pPr>
            <a:r>
              <a:rPr lang="en-US" b="1" dirty="0"/>
              <a:t>Need for Customer Feedback Analysis:</a:t>
            </a:r>
            <a:r>
              <a:rPr lang="en-US" dirty="0"/>
              <a:t> Understanding customer opinions about products and services is crucial for improving engagement and conversions.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p:cNvSpPr>
            <a:spLocks noGrp="1"/>
          </p:cNvSpPr>
          <p:nvPr>
            <p:ph idx="1"/>
          </p:nvPr>
        </p:nvSpPr>
        <p:spPr/>
        <p:txBody>
          <a:bodyPr>
            <a:normAutofit fontScale="47500" lnSpcReduction="20000"/>
          </a:bodyPr>
          <a:lstStyle/>
          <a:p>
            <a:pPr marL="0" indent="0">
              <a:lnSpc>
                <a:spcPct val="170000"/>
              </a:lnSpc>
              <a:buNone/>
            </a:pPr>
            <a:r>
              <a:rPr lang="en-US" dirty="0"/>
              <a:t>Hi Data Analyst,</a:t>
            </a:r>
            <a:endParaRPr lang="en-US" dirty="0"/>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endParaRPr lang="en-US" dirty="0"/>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endParaRPr lang="en-US" dirty="0"/>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endParaRPr lang="en-US" dirty="0"/>
          </a:p>
          <a:p>
            <a:pPr marL="0" indent="0">
              <a:lnSpc>
                <a:spcPct val="170000"/>
              </a:lnSpc>
              <a:buNone/>
            </a:pPr>
            <a:r>
              <a:rPr lang="en-US" dirty="0"/>
              <a:t>Looking forward to your response.</a:t>
            </a:r>
            <a:endParaRPr lang="en-US" dirty="0"/>
          </a:p>
          <a:p>
            <a:pPr marL="0" indent="0">
              <a:lnSpc>
                <a:spcPct val="170000"/>
              </a:lnSpc>
              <a:buNone/>
            </a:pPr>
            <a:r>
              <a:rPr lang="en-US" dirty="0"/>
              <a:t>Best regards,</a:t>
            </a:r>
            <a:br>
              <a:rPr lang="en-US" dirty="0"/>
            </a:br>
            <a:r>
              <a:rPr lang="en-US" dirty="0"/>
              <a:t>Jane Doe</a:t>
            </a:r>
            <a:br>
              <a:rPr lang="en-US" dirty="0"/>
            </a:br>
            <a:r>
              <a:rPr lang="en-US" dirty="0"/>
              <a:t>Marketing Manager</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p:cNvSpPr>
            <a:spLocks noGrp="1"/>
          </p:cNvSpPr>
          <p:nvPr>
            <p:ph idx="1"/>
          </p:nvPr>
        </p:nvSpPr>
        <p:spPr/>
        <p:txBody>
          <a:bodyPr>
            <a:normAutofit fontScale="47500" lnSpcReduction="20000"/>
          </a:bodyPr>
          <a:lstStyle/>
          <a:p>
            <a:pPr marL="0" indent="0">
              <a:lnSpc>
                <a:spcPct val="170000"/>
              </a:lnSpc>
              <a:buNone/>
            </a:pPr>
            <a:r>
              <a:rPr lang="en-US" dirty="0"/>
              <a:t>Hi Data Analyst,</a:t>
            </a:r>
            <a:endParaRPr lang="en-US" dirty="0"/>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endParaRPr lang="en-US" dirty="0"/>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endParaRPr lang="en-US" dirty="0"/>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endParaRPr lang="en-US" dirty="0"/>
          </a:p>
          <a:p>
            <a:pPr marL="0" indent="0">
              <a:lnSpc>
                <a:spcPct val="170000"/>
              </a:lnSpc>
              <a:buNone/>
            </a:pPr>
            <a:r>
              <a:rPr lang="en-US" dirty="0"/>
              <a:t>Thank you for your assistance.</a:t>
            </a:r>
            <a:endParaRPr lang="en-US" dirty="0"/>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Performance Indicators (KPIs)</a:t>
            </a:r>
            <a:endParaRPr lang="nb-NO" b="1" dirty="0"/>
          </a:p>
        </p:txBody>
      </p:sp>
      <p:sp>
        <p:nvSpPr>
          <p:cNvPr id="3" name="Content Placeholder 2"/>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endParaRPr lang="en-US" dirty="0"/>
          </a:p>
          <a:p>
            <a:pPr>
              <a:lnSpc>
                <a:spcPct val="150000"/>
              </a:lnSpc>
            </a:pPr>
            <a:r>
              <a:rPr lang="en-US" b="1" dirty="0"/>
              <a:t>Customer Engagement Rate: </a:t>
            </a:r>
            <a:r>
              <a:rPr lang="en-US" dirty="0"/>
              <a:t>Level of interaction with marketing content (clicks, likes, comments).</a:t>
            </a:r>
            <a:endParaRPr lang="en-US" dirty="0"/>
          </a:p>
          <a:p>
            <a:pPr>
              <a:lnSpc>
                <a:spcPct val="150000"/>
              </a:lnSpc>
            </a:pPr>
            <a:r>
              <a:rPr lang="en-US" b="1" dirty="0"/>
              <a:t>Average Order Value (AOV): </a:t>
            </a:r>
            <a:r>
              <a:rPr lang="en-US" dirty="0"/>
              <a:t>Average amount spent by a customer per transaction.</a:t>
            </a:r>
            <a:endParaRPr lang="en-US" dirty="0"/>
          </a:p>
          <a:p>
            <a:pPr>
              <a:lnSpc>
                <a:spcPct val="150000"/>
              </a:lnSpc>
            </a:pPr>
            <a:r>
              <a:rPr lang="en-US" b="1" dirty="0"/>
              <a:t>Customer Feedback Score: </a:t>
            </a:r>
            <a:r>
              <a:rPr lang="en-US" dirty="0"/>
              <a:t>Average rating from customer reviews.</a:t>
            </a:r>
            <a:endParaRPr lang="nb-NO"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Goals</a:t>
            </a:r>
            <a:endParaRPr lang="nb-NO" b="1" dirty="0"/>
          </a:p>
        </p:txBody>
      </p:sp>
      <p:sp>
        <p:nvSpPr>
          <p:cNvPr id="3" name="Content Placeholder 2"/>
          <p:cNvSpPr>
            <a:spLocks noGrp="1"/>
          </p:cNvSpPr>
          <p:nvPr>
            <p:ph idx="1"/>
          </p:nvPr>
        </p:nvSpPr>
        <p:spPr/>
        <p:txBody>
          <a:bodyPr>
            <a:normAutofit fontScale="62500" lnSpcReduction="20000"/>
          </a:bodyPr>
          <a:lstStyle/>
          <a:p>
            <a:pPr>
              <a:lnSpc>
                <a:spcPct val="170000"/>
              </a:lnSpc>
            </a:pPr>
            <a:r>
              <a:rPr lang="en-US" b="1" dirty="0"/>
              <a:t>Increase Conversion Rates:</a:t>
            </a:r>
            <a:endParaRPr lang="en-US" b="1" dirty="0"/>
          </a:p>
          <a:p>
            <a:pPr lvl="1">
              <a:lnSpc>
                <a:spcPct val="170000"/>
              </a:lnSpc>
            </a:pPr>
            <a:r>
              <a:rPr lang="en-US" b="1" dirty="0"/>
              <a:t>Goal: </a:t>
            </a:r>
            <a:r>
              <a:rPr lang="en-US" dirty="0"/>
              <a:t>Identify factors impacting the conversion rate and provide recommendations to improve it.</a:t>
            </a:r>
            <a:endParaRPr lang="en-US" dirty="0"/>
          </a:p>
          <a:p>
            <a:pPr lvl="1">
              <a:lnSpc>
                <a:spcPct val="170000"/>
              </a:lnSpc>
            </a:pPr>
            <a:r>
              <a:rPr lang="en-US" b="1" dirty="0"/>
              <a:t>Insight: </a:t>
            </a:r>
            <a:r>
              <a:rPr lang="en-US" dirty="0"/>
              <a:t>Highlight key stages where visitors drop off and suggest improvements to optimize the conversion funnel.</a:t>
            </a:r>
            <a:endParaRPr lang="en-US" dirty="0"/>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endParaRPr lang="en-US" dirty="0"/>
          </a:p>
          <a:p>
            <a:pPr lvl="1">
              <a:lnSpc>
                <a:spcPct val="170000"/>
              </a:lnSpc>
            </a:pPr>
            <a:r>
              <a:rPr lang="en-US" b="1" dirty="0"/>
              <a:t>Insight:</a:t>
            </a:r>
            <a:r>
              <a:rPr lang="en-US" dirty="0"/>
              <a:t> Analyze interaction levels with different types of marketing content to inform better content strategies.</a:t>
            </a:r>
            <a:endParaRPr lang="en-US" dirty="0"/>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endParaRPr lang="en-US" dirty="0"/>
          </a:p>
          <a:p>
            <a:pPr lvl="1">
              <a:lnSpc>
                <a:spcPct val="170000"/>
              </a:lnSpc>
            </a:pPr>
            <a:r>
              <a:rPr lang="en-US" b="1" dirty="0"/>
              <a:t>Insight:</a:t>
            </a:r>
            <a:r>
              <a:rPr lang="en-US" dirty="0"/>
              <a:t> Identify recurring positive and negative feedback to guide product and service improvements.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3709</Words>
  <Application>WPS Presentation</Application>
  <PresentationFormat>Widescreen</PresentationFormat>
  <Paragraphs>49</Paragraphs>
  <Slides>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SimSun</vt:lpstr>
      <vt:lpstr>Wingdings</vt:lpstr>
      <vt:lpstr>Aptos Display</vt:lpstr>
      <vt:lpstr>Segoe UI Variable Display</vt:lpstr>
      <vt:lpstr>Aptos</vt:lpstr>
      <vt:lpstr>Segoe UI</vt:lpstr>
      <vt:lpstr>Microsoft YaHei</vt:lpstr>
      <vt:lpstr>Arial Unicode MS</vt:lpstr>
      <vt:lpstr>Calibri</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mayan</cp:lastModifiedBy>
  <cp:revision>2</cp:revision>
  <dcterms:created xsi:type="dcterms:W3CDTF">2024-07-20T13:50:00Z</dcterms:created>
  <dcterms:modified xsi:type="dcterms:W3CDTF">2025-10-30T13:23:16Z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CD7C948C05474BD986556A0D209F6E5C_12</vt:lpwstr>
  </property>
  <property fmtid="{D5CDD505-2E9C-101B-9397-08002B2CF9AE}" pid="3" name="KSOProductBuildVer">
    <vt:lpwstr>1033-12.2.0.23155</vt:lpwstr>
  </property>
</Properties>
</file>